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4"/>
  </p:sldMasterIdLst>
  <p:notesMasterIdLst>
    <p:notesMasterId r:id="rId23"/>
  </p:notesMasterIdLst>
  <p:handoutMasterIdLst>
    <p:handoutMasterId r:id="rId24"/>
  </p:handoutMasterIdLst>
  <p:sldIdLst>
    <p:sldId id="265" r:id="rId5"/>
    <p:sldId id="281" r:id="rId6"/>
    <p:sldId id="257" r:id="rId7"/>
    <p:sldId id="266" r:id="rId8"/>
    <p:sldId id="260" r:id="rId9"/>
    <p:sldId id="267" r:id="rId10"/>
    <p:sldId id="268" r:id="rId11"/>
    <p:sldId id="270" r:id="rId12"/>
    <p:sldId id="275" r:id="rId13"/>
    <p:sldId id="282" r:id="rId14"/>
    <p:sldId id="271" r:id="rId15"/>
    <p:sldId id="272" r:id="rId16"/>
    <p:sldId id="273" r:id="rId17"/>
    <p:sldId id="274" r:id="rId18"/>
    <p:sldId id="278" r:id="rId19"/>
    <p:sldId id="279" r:id="rId20"/>
    <p:sldId id="280" r:id="rId21"/>
    <p:sldId id="277" r:id="rId22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well HM Kong" initials="LHK" lastIdx="3" clrIdx="0">
    <p:extLst>
      <p:ext uri="{19B8F6BF-5375-455C-9EA6-DF929625EA0E}">
        <p15:presenceInfo xmlns:p15="http://schemas.microsoft.com/office/powerpoint/2012/main" userId="Lowell HM Ko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F"/>
    <a:srgbClr val="056E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E7A5AE-06CF-CBFC-6CCD-0D2B3A001DA5}" v="4" dt="2026-09-04T03:36:36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>
      <p:cViewPr varScale="1">
        <p:scale>
          <a:sx n="63" d="100"/>
          <a:sy n="63" d="100"/>
        </p:scale>
        <p:origin x="84" y="8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CF6EE-5EE5-4E6E-A286-9A87778AB80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58A83-A85A-4422-8D67-941BDA1D0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64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FCD08-8250-467B-8754-BC8DEFB802A0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F90BD-B51E-47C3-AEC4-213115FCB3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8025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7375" y="304802"/>
            <a:ext cx="10997357" cy="402031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7376" y="4455620"/>
            <a:ext cx="10997357" cy="1753217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64843" y="6459785"/>
            <a:ext cx="7020558" cy="342928"/>
          </a:xfrm>
        </p:spPr>
        <p:txBody>
          <a:bodyPr/>
          <a:lstStyle/>
          <a:p>
            <a:endParaRPr lang="en-H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598057" y="4325112"/>
            <a:ext cx="11026675" cy="1828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10D24FD-BC96-17E0-E551-1901E8A56A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958" y="55336"/>
            <a:ext cx="2328362" cy="118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8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0385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376" y="375385"/>
            <a:ext cx="10932244" cy="3858288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376" y="4453127"/>
            <a:ext cx="10932244" cy="1771453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627376" y="4343400"/>
            <a:ext cx="1093224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30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27376" y="286603"/>
            <a:ext cx="10932244" cy="9664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7376" y="1491916"/>
            <a:ext cx="5407664" cy="47260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91916"/>
            <a:ext cx="5407664" cy="47260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3468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27376" y="286604"/>
            <a:ext cx="10932244" cy="96869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376" y="1477911"/>
            <a:ext cx="540766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376" y="2212194"/>
            <a:ext cx="5407664" cy="40249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5912"/>
            <a:ext cx="534170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19" y="2208197"/>
            <a:ext cx="5341699" cy="40249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46652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78835"/>
            <a:ext cx="2472271" cy="365125"/>
          </a:xfrm>
        </p:spPr>
        <p:txBody>
          <a:bodyPr/>
          <a:lstStyle/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7924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H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9326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651" y="365760"/>
            <a:ext cx="3394631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2867" y="365760"/>
            <a:ext cx="7266753" cy="59394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723949"/>
            <a:ext cx="3394082" cy="358125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95712" y="6459785"/>
            <a:ext cx="6128680" cy="332671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H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5623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376" y="5074920"/>
            <a:ext cx="1093224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7376" y="5907024"/>
            <a:ext cx="10932244" cy="552761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68706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00115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83472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7376" y="412302"/>
            <a:ext cx="7945124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C04-6B56-48FB-88B0-19BE4460FE95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0438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9125" y="286604"/>
            <a:ext cx="10944225" cy="9860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126" y="1479167"/>
            <a:ext cx="10944224" cy="47518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7376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0751C04-6B56-48FB-88B0-19BE4460FE95}" type="datetimeFigureOut">
              <a:rPr lang="en-HK" smtClean="0"/>
              <a:t>3/9/2026</a:t>
            </a:fld>
            <a:endParaRPr lang="en-H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2307" y="6461781"/>
            <a:ext cx="61929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H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7874" y="6459786"/>
            <a:ext cx="162174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371A14-B2AA-476F-8E3A-C19D1F713DE2}" type="slidenum">
              <a:rPr lang="en-HK" smtClean="0"/>
              <a:t>‹#›</a:t>
            </a:fld>
            <a:endParaRPr lang="en-HK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627376" y="1375895"/>
            <a:ext cx="1093224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63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D8CA-2896-485E-8771-19C90C7D6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376" y="443113"/>
            <a:ext cx="10997357" cy="4020310"/>
          </a:xfrm>
        </p:spPr>
        <p:txBody>
          <a:bodyPr>
            <a:normAutofit fontScale="90000"/>
          </a:bodyPr>
          <a:lstStyle/>
          <a:p>
            <a:r>
              <a:rPr lang="en-HK" sz="5300" b="1" dirty="0">
                <a:solidFill>
                  <a:srgbClr val="03178C"/>
                </a:solidFill>
              </a:rPr>
              <a:t> </a:t>
            </a:r>
            <a:br>
              <a:rPr lang="en-HK" sz="5300" dirty="0">
                <a:solidFill>
                  <a:srgbClr val="000000">
                    <a:lumMod val="85000"/>
                    <a:lumOff val="15000"/>
                  </a:srgbClr>
                </a:solidFill>
              </a:rPr>
            </a:br>
            <a:r>
              <a:rPr lang="fr-FR" sz="7200" b="1" cap="all" dirty="0" err="1">
                <a:solidFill>
                  <a:srgbClr val="056EE1"/>
                </a:solidFill>
              </a:rPr>
              <a:t>iDEAtION</a:t>
            </a:r>
            <a:br>
              <a:rPr lang="en-HK" sz="6700" dirty="0"/>
            </a:br>
            <a:br>
              <a:rPr lang="en-HK" sz="7300" dirty="0"/>
            </a:br>
            <a:r>
              <a:rPr lang="en-HK" sz="5300" dirty="0"/>
              <a:t>Gold Badge Assessment – Progress updates</a:t>
            </a:r>
            <a:endParaRPr lang="en-HK" sz="6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497EF-9209-4940-9588-A813EA78B7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>
                <a:ea typeface="新細明體"/>
              </a:rPr>
              <a:t>Insert your </a:t>
            </a:r>
            <a:r>
              <a:rPr lang="en-US" altLang="zh-TW" b="1" dirty="0">
                <a:ea typeface="新細明體"/>
              </a:rPr>
              <a:t>Ideation</a:t>
            </a:r>
            <a:r>
              <a:rPr lang="en-US" altLang="zh-TW" dirty="0">
                <a:ea typeface="新細明體"/>
              </a:rPr>
              <a:t> </a:t>
            </a:r>
            <a:r>
              <a:rPr lang="en-US" altLang="zh-TW" b="1" dirty="0">
                <a:ea typeface="新細明體"/>
              </a:rPr>
              <a:t>ID </a:t>
            </a:r>
            <a:r>
              <a:rPr lang="en-US" altLang="zh-TW" dirty="0">
                <a:ea typeface="新細明體"/>
              </a:rPr>
              <a:t>&amp; </a:t>
            </a:r>
            <a:r>
              <a:rPr lang="en-US" altLang="zh-TW" b="1" dirty="0">
                <a:ea typeface="新細明體"/>
              </a:rPr>
              <a:t>Project name</a:t>
            </a:r>
            <a:endParaRPr lang="en-HK" b="1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52073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7E8E9-3DF2-66AA-98FC-EEDDC063E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2FE2D-E0AC-6FAA-A2E5-AD171E73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Strong submissions typically include evidence rather than statements alone. The more objective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evidence you provide, the easier it is for assessors to evaluate your progress.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Examples of supporting evidence include, but are not limited to: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• Customer discovery logs / Customer interview summaries / Signed LOIs or MOUs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Product demo screenshots / MVP validation results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Revenue records or invoices / Financial forecast models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IP filings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4655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4CF7-5932-4793-A66D-9EF45F97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91440" lvl="0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</a:pPr>
            <a:r>
              <a:rPr lang="en-HK" sz="5300" dirty="0"/>
              <a:t>Core Team Members</a:t>
            </a:r>
            <a:br>
              <a:rPr lang="en-HK" dirty="0"/>
            </a:br>
            <a:r>
              <a:rPr lang="en-HK" sz="2000" dirty="0"/>
              <a:t>(</a:t>
            </a:r>
            <a:r>
              <a:rPr lang="en-HK" sz="2000" spc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  <a:ea typeface="+mn-ea"/>
                <a:cs typeface="+mn-cs"/>
              </a:rPr>
              <a:t>Brief Description of academic and business background of core team members)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5A614-922D-4C4E-BA0F-E7570B78D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CEO:	Name</a:t>
            </a:r>
          </a:p>
          <a:p>
            <a:pPr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	Background, Experience</a:t>
            </a:r>
          </a:p>
          <a:p>
            <a:pPr>
              <a:defRPr/>
            </a:pPr>
            <a:endParaRPr lang="en-US" altLang="zh-TW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Team member:</a:t>
            </a:r>
          </a:p>
          <a:p>
            <a:pPr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	Name</a:t>
            </a:r>
          </a:p>
          <a:p>
            <a:pPr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	Background, Experience</a:t>
            </a:r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52017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615FB4-FF9D-493D-8E84-EA84D6041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Project Summary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44AFE-0FE0-4619-B02B-4F991F9FD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 anchorCtr="0"/>
          <a:lstStyle/>
          <a:p>
            <a:r>
              <a:rPr lang="en-HK" dirty="0">
                <a:solidFill>
                  <a:srgbClr val="FF6F0F"/>
                </a:solidFill>
              </a:rPr>
              <a:t>Original plan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32626-4AAE-4C5D-8383-0364571E7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376" y="2208197"/>
            <a:ext cx="5407664" cy="4024977"/>
          </a:xfrm>
        </p:spPr>
        <p:txBody>
          <a:bodyPr/>
          <a:lstStyle/>
          <a:p>
            <a:endParaRPr lang="en-HK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5A3B73-C5E2-4DF3-A1AC-85EFB7EDE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 anchorCtr="0"/>
          <a:lstStyle/>
          <a:p>
            <a:r>
              <a:rPr lang="en-HK" dirty="0">
                <a:solidFill>
                  <a:srgbClr val="FF6F0F"/>
                </a:solidFill>
              </a:rPr>
              <a:t>Current achievement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0529E5-A7F2-41CC-969A-15A070EF569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41279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922362-845C-4962-B6AB-8BEA548C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Business Development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121E8-13D5-4D15-8128-B424EF795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063" y="1507644"/>
            <a:ext cx="4532833" cy="736282"/>
          </a:xfrm>
        </p:spPr>
        <p:txBody>
          <a:bodyPr anchor="t" anchorCtr="0"/>
          <a:lstStyle/>
          <a:p>
            <a:r>
              <a:rPr lang="en-HK" dirty="0"/>
              <a:t>Original plan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F394CA9-E7A5-488A-8B49-4B215F33F7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23617264"/>
              </p:ext>
            </p:extLst>
          </p:nvPr>
        </p:nvGraphicFramePr>
        <p:xfrm>
          <a:off x="627063" y="2212973"/>
          <a:ext cx="4388817" cy="352028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80505">
                  <a:extLst>
                    <a:ext uri="{9D8B030D-6E8A-4147-A177-3AD203B41FA5}">
                      <a16:colId xmlns:a16="http://schemas.microsoft.com/office/drawing/2014/main" val="2623641436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074167778"/>
                    </a:ext>
                  </a:extLst>
                </a:gridCol>
              </a:tblGrid>
              <a:tr h="3520282">
                <a:tc>
                  <a:txBody>
                    <a:bodyPr/>
                    <a:lstStyle/>
                    <a:p>
                      <a:r>
                        <a:rPr lang="en-HK" sz="1600" dirty="0"/>
                        <a:t>Business Development</a:t>
                      </a:r>
                      <a:r>
                        <a:rPr lang="en-HK" sz="1600" baseline="0" dirty="0"/>
                        <a:t> Plan</a:t>
                      </a:r>
                    </a:p>
                  </a:txBody>
                  <a:tcPr>
                    <a:lnL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dirty="0"/>
                    </a:p>
                  </a:txBody>
                  <a:tcPr>
                    <a:lnL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192818"/>
                  </a:ext>
                </a:extLst>
              </a:tr>
            </a:tbl>
          </a:graphicData>
        </a:graphic>
      </p:graphicFrame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292818BE-26B0-4344-9B40-996412B3F49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80265463"/>
              </p:ext>
            </p:extLst>
          </p:nvPr>
        </p:nvGraphicFramePr>
        <p:xfrm>
          <a:off x="5231904" y="2208210"/>
          <a:ext cx="5976664" cy="352504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976664">
                  <a:extLst>
                    <a:ext uri="{9D8B030D-6E8A-4147-A177-3AD203B41FA5}">
                      <a16:colId xmlns:a16="http://schemas.microsoft.com/office/drawing/2014/main" val="2145216041"/>
                    </a:ext>
                  </a:extLst>
                </a:gridCol>
              </a:tblGrid>
              <a:tr h="3525044">
                <a:tc>
                  <a:txBody>
                    <a:bodyPr/>
                    <a:lstStyle/>
                    <a:p>
                      <a:endParaRPr lang="en-HK" b="0" i="0" baseline="0" dirty="0"/>
                    </a:p>
                  </a:txBody>
                  <a:tcPr>
                    <a:lnL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773144"/>
                  </a:ext>
                </a:extLst>
              </a:tr>
            </a:tbl>
          </a:graphicData>
        </a:graphic>
      </p:graphicFrame>
      <p:graphicFrame>
        <p:nvGraphicFramePr>
          <p:cNvPr id="19" name="Table 17">
            <a:extLst>
              <a:ext uri="{FF2B5EF4-FFF2-40B4-BE49-F238E27FC236}">
                <a16:creationId xmlns:a16="http://schemas.microsoft.com/office/drawing/2014/main" id="{259D777B-F797-4881-9620-50DE9CDD2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651517"/>
              </p:ext>
            </p:extLst>
          </p:nvPr>
        </p:nvGraphicFramePr>
        <p:xfrm>
          <a:off x="5264990" y="1507644"/>
          <a:ext cx="6927010" cy="6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3339">
                  <a:extLst>
                    <a:ext uri="{9D8B030D-6E8A-4147-A177-3AD203B41FA5}">
                      <a16:colId xmlns:a16="http://schemas.microsoft.com/office/drawing/2014/main" val="1256572443"/>
                    </a:ext>
                  </a:extLst>
                </a:gridCol>
                <a:gridCol w="3553671">
                  <a:extLst>
                    <a:ext uri="{9D8B030D-6E8A-4147-A177-3AD203B41FA5}">
                      <a16:colId xmlns:a16="http://schemas.microsoft.com/office/drawing/2014/main" val="629816196"/>
                    </a:ext>
                  </a:extLst>
                </a:gridCol>
              </a:tblGrid>
              <a:tr h="260820">
                <a:tc grid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None/>
                      </a:pPr>
                      <a:r>
                        <a:rPr lang="en-HK" sz="2000" b="0" kern="1200" cap="all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achievement</a:t>
                      </a:r>
                    </a:p>
                  </a:txBody>
                  <a:tcPr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HK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666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HK" sz="1800" dirty="0"/>
                        <a:t>From programme start until now</a:t>
                      </a:r>
                    </a:p>
                  </a:txBody>
                  <a:tcPr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600" baseline="0" dirty="0"/>
                    </a:p>
                  </a:txBody>
                  <a:tcPr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010687"/>
                  </a:ext>
                </a:extLst>
              </a:tr>
            </a:tbl>
          </a:graphicData>
        </a:graphic>
      </p:graphicFrame>
      <p:sp>
        <p:nvSpPr>
          <p:cNvPr id="2" name="Title 3">
            <a:extLst>
              <a:ext uri="{FF2B5EF4-FFF2-40B4-BE49-F238E27FC236}">
                <a16:creationId xmlns:a16="http://schemas.microsoft.com/office/drawing/2014/main" id="{987F2584-9C0C-A848-5E5E-26FC1E839358}"/>
              </a:ext>
            </a:extLst>
          </p:cNvPr>
          <p:cNvSpPr txBox="1">
            <a:spLocks/>
          </p:cNvSpPr>
          <p:nvPr/>
        </p:nvSpPr>
        <p:spPr>
          <a:xfrm>
            <a:off x="2135560" y="5590402"/>
            <a:ext cx="10932244" cy="9686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HK" sz="1100" dirty="0"/>
          </a:p>
        </p:txBody>
      </p:sp>
    </p:spTree>
    <p:extLst>
      <p:ext uri="{BB962C8B-B14F-4D97-AF65-F5344CB8AC3E}">
        <p14:creationId xmlns:p14="http://schemas.microsoft.com/office/powerpoint/2010/main" val="3470228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922362-845C-4962-B6AB-8BEA548C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Technology Development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F394CA9-E7A5-488A-8B49-4B215F33F7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36573541"/>
              </p:ext>
            </p:extLst>
          </p:nvPr>
        </p:nvGraphicFramePr>
        <p:xfrm>
          <a:off x="627063" y="2212973"/>
          <a:ext cx="4532833" cy="308823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36489">
                  <a:extLst>
                    <a:ext uri="{9D8B030D-6E8A-4147-A177-3AD203B41FA5}">
                      <a16:colId xmlns:a16="http://schemas.microsoft.com/office/drawing/2014/main" val="2623641436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074167778"/>
                    </a:ext>
                  </a:extLst>
                </a:gridCol>
              </a:tblGrid>
              <a:tr h="30882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Technology Development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altLang="zh-TW" sz="1600" dirty="0"/>
                        <a:t>Plan</a:t>
                      </a:r>
                      <a:endParaRPr lang="en-US" altLang="zh-TW" sz="16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b="0" i="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950068"/>
                  </a:ext>
                </a:extLst>
              </a:tr>
            </a:tbl>
          </a:graphicData>
        </a:graphic>
      </p:graphicFrame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292818BE-26B0-4344-9B40-996412B3F49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875733710"/>
              </p:ext>
            </p:extLst>
          </p:nvPr>
        </p:nvGraphicFramePr>
        <p:xfrm>
          <a:off x="5231904" y="2208212"/>
          <a:ext cx="6120680" cy="309299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120680">
                  <a:extLst>
                    <a:ext uri="{9D8B030D-6E8A-4147-A177-3AD203B41FA5}">
                      <a16:colId xmlns:a16="http://schemas.microsoft.com/office/drawing/2014/main" val="2145216041"/>
                    </a:ext>
                  </a:extLst>
                </a:gridCol>
              </a:tblGrid>
              <a:tr h="3092996">
                <a:tc>
                  <a:txBody>
                    <a:bodyPr/>
                    <a:lstStyle/>
                    <a:p>
                      <a:endParaRPr lang="en-HK" b="0" i="0" baseline="0" dirty="0"/>
                    </a:p>
                  </a:txBody>
                  <a:tcPr>
                    <a:lnB w="19050" cap="flat" cmpd="sng" algn="ctr">
                      <a:solidFill>
                        <a:srgbClr val="0317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73144"/>
                  </a:ext>
                </a:extLst>
              </a:tr>
            </a:tbl>
          </a:graphicData>
        </a:graphic>
      </p:graphicFrame>
      <p:graphicFrame>
        <p:nvGraphicFramePr>
          <p:cNvPr id="19" name="Table 17">
            <a:extLst>
              <a:ext uri="{FF2B5EF4-FFF2-40B4-BE49-F238E27FC236}">
                <a16:creationId xmlns:a16="http://schemas.microsoft.com/office/drawing/2014/main" id="{259D777B-F797-4881-9620-50DE9CDD2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787164"/>
              </p:ext>
            </p:extLst>
          </p:nvPr>
        </p:nvGraphicFramePr>
        <p:xfrm>
          <a:off x="5231350" y="1501371"/>
          <a:ext cx="7201354" cy="6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6940">
                  <a:extLst>
                    <a:ext uri="{9D8B030D-6E8A-4147-A177-3AD203B41FA5}">
                      <a16:colId xmlns:a16="http://schemas.microsoft.com/office/drawing/2014/main" val="1256572443"/>
                    </a:ext>
                  </a:extLst>
                </a:gridCol>
                <a:gridCol w="3694414">
                  <a:extLst>
                    <a:ext uri="{9D8B030D-6E8A-4147-A177-3AD203B41FA5}">
                      <a16:colId xmlns:a16="http://schemas.microsoft.com/office/drawing/2014/main" val="629816196"/>
                    </a:ext>
                  </a:extLst>
                </a:gridCol>
              </a:tblGrid>
              <a:tr h="260820">
                <a:tc grid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None/>
                      </a:pPr>
                      <a:r>
                        <a:rPr lang="en-HK" sz="2000" b="0" kern="1200" cap="all" baseline="0" dirty="0">
                          <a:solidFill>
                            <a:srgbClr val="FF6F0F"/>
                          </a:solidFill>
                          <a:latin typeface="+mn-lt"/>
                          <a:ea typeface="+mn-ea"/>
                          <a:cs typeface="+mn-cs"/>
                        </a:rPr>
                        <a:t>achievement</a:t>
                      </a:r>
                    </a:p>
                  </a:txBody>
                  <a:tcPr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HK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666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HK" sz="1800" dirty="0"/>
                        <a:t>From programme start until now</a:t>
                      </a:r>
                    </a:p>
                  </a:txBody>
                  <a:tcPr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600" baseline="0" dirty="0"/>
                    </a:p>
                  </a:txBody>
                  <a:tcPr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01068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51384" y="5398472"/>
            <a:ext cx="10801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*A workable prototype expected to be launched by the end of the </a:t>
            </a:r>
            <a:r>
              <a:rPr lang="en-US" sz="1600" dirty="0" err="1">
                <a:solidFill>
                  <a:srgbClr val="FF0000"/>
                </a:solidFill>
              </a:rPr>
              <a:t>programme</a:t>
            </a:r>
            <a:r>
              <a:rPr lang="en-US" sz="16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B3A1750-16DB-E69B-6110-95EF77119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063" y="1507644"/>
            <a:ext cx="4532833" cy="736282"/>
          </a:xfrm>
        </p:spPr>
        <p:txBody>
          <a:bodyPr anchor="t" anchorCtr="0"/>
          <a:lstStyle/>
          <a:p>
            <a:r>
              <a:rPr lang="en-HK" dirty="0">
                <a:solidFill>
                  <a:srgbClr val="FF6F0F"/>
                </a:solidFill>
              </a:rPr>
              <a:t>Original plan</a:t>
            </a:r>
          </a:p>
        </p:txBody>
      </p:sp>
    </p:spTree>
    <p:extLst>
      <p:ext uri="{BB962C8B-B14F-4D97-AF65-F5344CB8AC3E}">
        <p14:creationId xmlns:p14="http://schemas.microsoft.com/office/powerpoint/2010/main" val="1750119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922362-845C-4962-B6AB-8BEA548C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Corporate Development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121E8-13D5-4D15-8128-B424EF795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063" y="1392952"/>
            <a:ext cx="4532833" cy="736282"/>
          </a:xfrm>
        </p:spPr>
        <p:txBody>
          <a:bodyPr anchor="t" anchorCtr="0"/>
          <a:lstStyle/>
          <a:p>
            <a:r>
              <a:rPr lang="en-HK" dirty="0">
                <a:solidFill>
                  <a:srgbClr val="FF6F0F"/>
                </a:solidFill>
              </a:rPr>
              <a:t>Original plan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F394CA9-E7A5-488A-8B49-4B215F33F7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6470485"/>
              </p:ext>
            </p:extLst>
          </p:nvPr>
        </p:nvGraphicFramePr>
        <p:xfrm>
          <a:off x="627063" y="2212973"/>
          <a:ext cx="4532833" cy="344827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36489">
                  <a:extLst>
                    <a:ext uri="{9D8B030D-6E8A-4147-A177-3AD203B41FA5}">
                      <a16:colId xmlns:a16="http://schemas.microsoft.com/office/drawing/2014/main" val="2623641436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074167778"/>
                    </a:ext>
                  </a:extLst>
                </a:gridCol>
              </a:tblGrid>
              <a:tr h="1724137">
                <a:tc>
                  <a:txBody>
                    <a:bodyPr/>
                    <a:lstStyle/>
                    <a:p>
                      <a:r>
                        <a:rPr lang="en-HK" sz="1600" b="1" dirty="0"/>
                        <a:t>Financial</a:t>
                      </a:r>
                      <a:r>
                        <a:rPr lang="en-HK" sz="1600" b="1" baseline="0" dirty="0"/>
                        <a:t> </a:t>
                      </a:r>
                      <a:r>
                        <a:rPr lang="en-HK" sz="1600" b="1" dirty="0"/>
                        <a:t>Plan</a:t>
                      </a:r>
                    </a:p>
                  </a:txBody>
                  <a:tcPr>
                    <a:lnL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dirty="0"/>
                    </a:p>
                  </a:txBody>
                  <a:tcPr>
                    <a:lnL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192818"/>
                  </a:ext>
                </a:extLst>
              </a:tr>
              <a:tr h="1724137">
                <a:tc>
                  <a:txBody>
                    <a:bodyPr/>
                    <a:lstStyle/>
                    <a:p>
                      <a:r>
                        <a:rPr lang="en-HK" sz="1600" b="1" dirty="0">
                          <a:latin typeface="+mj-lt"/>
                        </a:rPr>
                        <a:t>Other</a:t>
                      </a:r>
                      <a:r>
                        <a:rPr lang="en-HK" sz="1600" b="1" baseline="0" dirty="0">
                          <a:latin typeface="+mj-lt"/>
                        </a:rPr>
                        <a:t>s</a:t>
                      </a:r>
                    </a:p>
                    <a:p>
                      <a:r>
                        <a:rPr lang="en-HK" sz="1400" b="1" dirty="0">
                          <a:latin typeface="+mj-lt"/>
                        </a:rPr>
                        <a:t>(Awards, IP, </a:t>
                      </a:r>
                      <a:r>
                        <a:rPr lang="en-HK" sz="1400" b="1" dirty="0" err="1">
                          <a:latin typeface="+mj-lt"/>
                        </a:rPr>
                        <a:t>etc</a:t>
                      </a:r>
                      <a:r>
                        <a:rPr lang="en-HK" sz="1400" b="1" dirty="0">
                          <a:latin typeface="+mj-lt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dirty="0"/>
                    </a:p>
                  </a:txBody>
                  <a:tcPr>
                    <a:lnL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467656"/>
                  </a:ext>
                </a:extLst>
              </a:tr>
            </a:tbl>
          </a:graphicData>
        </a:graphic>
      </p:graphicFrame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292818BE-26B0-4344-9B40-996412B3F49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96753246"/>
              </p:ext>
            </p:extLst>
          </p:nvPr>
        </p:nvGraphicFramePr>
        <p:xfrm>
          <a:off x="5231904" y="2208212"/>
          <a:ext cx="5832648" cy="345303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832648">
                  <a:extLst>
                    <a:ext uri="{9D8B030D-6E8A-4147-A177-3AD203B41FA5}">
                      <a16:colId xmlns:a16="http://schemas.microsoft.com/office/drawing/2014/main" val="2145216041"/>
                    </a:ext>
                  </a:extLst>
                </a:gridCol>
              </a:tblGrid>
              <a:tr h="1726518">
                <a:tc>
                  <a:txBody>
                    <a:bodyPr/>
                    <a:lstStyle/>
                    <a:p>
                      <a:endParaRPr lang="en-HK" b="0" i="0" baseline="0" dirty="0"/>
                    </a:p>
                  </a:txBody>
                  <a:tcPr>
                    <a:lnL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773144"/>
                  </a:ext>
                </a:extLst>
              </a:tr>
              <a:tr h="1726518">
                <a:tc>
                  <a:txBody>
                    <a:bodyPr/>
                    <a:lstStyle/>
                    <a:p>
                      <a:endParaRPr lang="en-HK" dirty="0"/>
                    </a:p>
                  </a:txBody>
                  <a:tcPr>
                    <a:lnL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6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555894"/>
                  </a:ext>
                </a:extLst>
              </a:tr>
            </a:tbl>
          </a:graphicData>
        </a:graphic>
      </p:graphicFrame>
      <p:graphicFrame>
        <p:nvGraphicFramePr>
          <p:cNvPr id="19" name="Table 17">
            <a:extLst>
              <a:ext uri="{FF2B5EF4-FFF2-40B4-BE49-F238E27FC236}">
                <a16:creationId xmlns:a16="http://schemas.microsoft.com/office/drawing/2014/main" id="{259D777B-F797-4881-9620-50DE9CDD2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850359"/>
              </p:ext>
            </p:extLst>
          </p:nvPr>
        </p:nvGraphicFramePr>
        <p:xfrm>
          <a:off x="5255974" y="1392952"/>
          <a:ext cx="7176730" cy="6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4949">
                  <a:extLst>
                    <a:ext uri="{9D8B030D-6E8A-4147-A177-3AD203B41FA5}">
                      <a16:colId xmlns:a16="http://schemas.microsoft.com/office/drawing/2014/main" val="1256572443"/>
                    </a:ext>
                  </a:extLst>
                </a:gridCol>
                <a:gridCol w="3681781">
                  <a:extLst>
                    <a:ext uri="{9D8B030D-6E8A-4147-A177-3AD203B41FA5}">
                      <a16:colId xmlns:a16="http://schemas.microsoft.com/office/drawing/2014/main" val="629816196"/>
                    </a:ext>
                  </a:extLst>
                </a:gridCol>
              </a:tblGrid>
              <a:tr h="260820">
                <a:tc grid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None/>
                      </a:pPr>
                      <a:r>
                        <a:rPr lang="en-HK" sz="2000" b="0" kern="1200" cap="all" baseline="0" dirty="0">
                          <a:solidFill>
                            <a:srgbClr val="FF6F0F"/>
                          </a:solidFill>
                          <a:latin typeface="+mn-lt"/>
                          <a:ea typeface="+mn-ea"/>
                          <a:cs typeface="+mn-cs"/>
                        </a:rPr>
                        <a:t>achievement</a:t>
                      </a:r>
                    </a:p>
                  </a:txBody>
                  <a:tcPr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HK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666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HK" sz="1800" dirty="0"/>
                        <a:t>From programme start until now</a:t>
                      </a:r>
                    </a:p>
                  </a:txBody>
                  <a:tcPr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600" baseline="0" dirty="0"/>
                    </a:p>
                  </a:txBody>
                  <a:tcPr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010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31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sz="6500" dirty="0"/>
              <a:t>Part 2</a:t>
            </a:r>
            <a:endParaRPr lang="en-US" sz="65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6F0F"/>
                </a:solidFill>
              </a:rPr>
              <a:t>Market Validation Report</a:t>
            </a:r>
          </a:p>
        </p:txBody>
      </p:sp>
    </p:spTree>
    <p:extLst>
      <p:ext uri="{BB962C8B-B14F-4D97-AF65-F5344CB8AC3E}">
        <p14:creationId xmlns:p14="http://schemas.microsoft.com/office/powerpoint/2010/main" val="1401048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Market Validation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785" y="1484784"/>
            <a:ext cx="1094422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Market Validation Report will be part of Gold Badge Assessment.</a:t>
            </a:r>
          </a:p>
          <a:p>
            <a:r>
              <a:rPr lang="en-US" sz="2000" dirty="0"/>
              <a:t>Market validation is the process of presenting a concept for a product to its target market and learn from those prospective buyers whether or not the idea is worth pursuing.</a:t>
            </a:r>
          </a:p>
          <a:p>
            <a:r>
              <a:rPr lang="en-US" sz="2400" dirty="0"/>
              <a:t> </a:t>
            </a:r>
          </a:p>
          <a:p>
            <a:r>
              <a:rPr lang="en-US" sz="2400" b="1" dirty="0"/>
              <a:t>Complete a process of Market Validation for your products can allows you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Clearly identifies customer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2000" dirty="0"/>
              <a:t>Defines your prototype requirements</a:t>
            </a:r>
          </a:p>
          <a:p>
            <a:endParaRPr lang="en-HK" sz="2400" dirty="0"/>
          </a:p>
          <a:p>
            <a:r>
              <a:rPr lang="en-US" sz="2400" b="1" dirty="0"/>
              <a:t>Common approaches to market validation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Interview people in your targeted market, such as your target customers and potential partners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Send out surveys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2000" dirty="0"/>
              <a:t>Host focus groups</a:t>
            </a:r>
            <a:endParaRPr lang="en-US" sz="20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61332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D211-0291-5054-2D3B-F7EE1A1FC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C6D8-7A09-9D92-D7F9-94664A2D2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Further remarks for overseas members landing HK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70A50-440C-0B91-7C1B-F4041E475372}"/>
              </a:ext>
            </a:extLst>
          </p:cNvPr>
          <p:cNvSpPr txBox="1"/>
          <p:nvPr/>
        </p:nvSpPr>
        <p:spPr>
          <a:xfrm>
            <a:off x="615785" y="1484784"/>
            <a:ext cx="109442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HK" sz="2000" dirty="0"/>
              <a:t>Highlight the advancements made in Hong Kong.</a:t>
            </a:r>
            <a:endParaRPr lang="en-GB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HK" sz="2000" dirty="0"/>
              <a:t>Emphasize the efforts invested in Hong Kong, showcasing your ambition to expand into this market.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HK" sz="2000" dirty="0"/>
              <a:t>Market validation is necessary to justify the product concept to its target audience in Hong Kong. </a:t>
            </a:r>
            <a:endParaRPr lang="en-GB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0573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Who are your target customers and Why?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789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125" y="332656"/>
            <a:ext cx="10944225" cy="986020"/>
          </a:xfrm>
        </p:spPr>
        <p:txBody>
          <a:bodyPr/>
          <a:lstStyle/>
          <a:p>
            <a:r>
              <a:rPr lang="en-HK" dirty="0"/>
              <a:t>Feedback from Target Customers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sz="2400" dirty="0">
                <a:solidFill>
                  <a:schemeClr val="bg1">
                    <a:lumMod val="65000"/>
                  </a:schemeClr>
                </a:solidFill>
              </a:rPr>
              <a:t>Did you reach out to your target customers?</a:t>
            </a:r>
          </a:p>
          <a:p>
            <a:r>
              <a:rPr lang="en-HK" sz="2400" dirty="0">
                <a:solidFill>
                  <a:schemeClr val="bg1">
                    <a:lumMod val="65000"/>
                  </a:schemeClr>
                </a:solidFill>
              </a:rPr>
              <a:t>By Interview? Survey? Focus Group? </a:t>
            </a:r>
          </a:p>
        </p:txBody>
      </p:sp>
    </p:spTree>
    <p:extLst>
      <p:ext uri="{BB962C8B-B14F-4D97-AF65-F5344CB8AC3E}">
        <p14:creationId xmlns:p14="http://schemas.microsoft.com/office/powerpoint/2010/main" val="2140864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Data Analysis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sz="2400" dirty="0">
                <a:solidFill>
                  <a:schemeClr val="bg1">
                    <a:lumMod val="65000"/>
                  </a:schemeClr>
                </a:solidFill>
              </a:rPr>
              <a:t>How's the result? </a:t>
            </a:r>
          </a:p>
          <a:p>
            <a:r>
              <a:rPr lang="en-HK" sz="2400" dirty="0">
                <a:solidFill>
                  <a:schemeClr val="bg1">
                    <a:lumMod val="65000"/>
                  </a:schemeClr>
                </a:solidFill>
              </a:rPr>
              <a:t>What did you learn from the Data?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49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Refine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sz="2400" dirty="0">
                <a:solidFill>
                  <a:schemeClr val="bg1">
                    <a:lumMod val="65000"/>
                  </a:schemeClr>
                </a:solidFill>
              </a:rPr>
              <a:t>Any refinement of your product / business model based on this feedback?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76769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Timeline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HK" sz="2400" dirty="0">
                <a:solidFill>
                  <a:schemeClr val="bg1">
                    <a:lumMod val="65000"/>
                  </a:schemeClr>
                </a:solidFill>
              </a:rPr>
              <a:t>What’s the overall schedule you’re working towards?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61347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Resources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sz="2400" dirty="0">
                <a:solidFill>
                  <a:schemeClr val="bg1">
                    <a:lumMod val="65000"/>
                  </a:schemeClr>
                </a:solidFill>
              </a:rPr>
              <a:t>A list of resources or elements that you need to complete </a:t>
            </a:r>
            <a:r>
              <a:rPr lang="en-HK" sz="2400">
                <a:solidFill>
                  <a:schemeClr val="bg1">
                    <a:lumMod val="65000"/>
                  </a:schemeClr>
                </a:solidFill>
              </a:rPr>
              <a:t>the project? </a:t>
            </a:r>
            <a:endParaRPr lang="en-HK" sz="24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37175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Success Metrics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371" y="1484784"/>
            <a:ext cx="10944224" cy="4751876"/>
          </a:xfrm>
        </p:spPr>
        <p:txBody>
          <a:bodyPr>
            <a:normAutofit/>
          </a:bodyPr>
          <a:lstStyle/>
          <a:p>
            <a:r>
              <a:rPr lang="en-HK" sz="2400" dirty="0">
                <a:solidFill>
                  <a:schemeClr val="bg1">
                    <a:lumMod val="65000"/>
                  </a:schemeClr>
                </a:solidFill>
              </a:rPr>
              <a:t>What are the success metrics that indicate you’re achieving your internal goals for the project?</a:t>
            </a:r>
          </a:p>
        </p:txBody>
      </p:sp>
    </p:spTree>
    <p:extLst>
      <p:ext uri="{BB962C8B-B14F-4D97-AF65-F5344CB8AC3E}">
        <p14:creationId xmlns:p14="http://schemas.microsoft.com/office/powerpoint/2010/main" val="3145747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C439B-8C9A-B0A6-7BBD-285F0061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Declaration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503D1-90DB-1862-A303-241C04F3CF97}"/>
              </a:ext>
            </a:extLst>
          </p:cNvPr>
          <p:cNvSpPr txBox="1"/>
          <p:nvPr/>
        </p:nvSpPr>
        <p:spPr>
          <a:xfrm>
            <a:off x="690637" y="1628800"/>
            <a:ext cx="10801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0" i="0" dirty="0">
                <a:solidFill>
                  <a:srgbClr val="242424"/>
                </a:solidFill>
                <a:effectLst/>
              </a:rPr>
              <a:t>I here declare, on my own behalf and on behalf of the Grantee of Ideation Programme, its directors, its employees/ team members that:</a:t>
            </a:r>
          </a:p>
          <a:p>
            <a:pPr algn="just"/>
            <a:endParaRPr lang="en-US" sz="2400" dirty="0">
              <a:solidFill>
                <a:srgbClr val="242424"/>
              </a:solidFill>
            </a:endParaRPr>
          </a:p>
          <a:p>
            <a:pPr algn="just"/>
            <a:r>
              <a:rPr lang="en-US" sz="2400" dirty="0">
                <a:solidFill>
                  <a:srgbClr val="FF6F0F"/>
                </a:solidFill>
              </a:rPr>
              <a:t>(</a:t>
            </a:r>
            <a:r>
              <a:rPr lang="en-US" altLang="zh-TW" sz="2400" dirty="0">
                <a:solidFill>
                  <a:srgbClr val="FF6F0F"/>
                </a:solidFill>
              </a:rPr>
              <a:t>P</a:t>
            </a:r>
            <a:r>
              <a:rPr lang="en-US" sz="2400" dirty="0">
                <a:solidFill>
                  <a:srgbClr val="FF6F0F"/>
                </a:solidFill>
              </a:rPr>
              <a:t>lease tick “✔” the box to confirm)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5D7FB-1C3D-9687-8253-922302AD3F81}"/>
              </a:ext>
            </a:extLst>
          </p:cNvPr>
          <p:cNvSpPr/>
          <p:nvPr/>
        </p:nvSpPr>
        <p:spPr>
          <a:xfrm>
            <a:off x="716006" y="3501008"/>
            <a:ext cx="288032" cy="2880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F6E677-9363-B927-2D36-2BF062ED1F48}"/>
              </a:ext>
            </a:extLst>
          </p:cNvPr>
          <p:cNvSpPr/>
          <p:nvPr/>
        </p:nvSpPr>
        <p:spPr>
          <a:xfrm>
            <a:off x="706480" y="4581128"/>
            <a:ext cx="288032" cy="2880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89DC74-8CAA-0592-C42B-9C91B29C249B}"/>
              </a:ext>
            </a:extLst>
          </p:cNvPr>
          <p:cNvSpPr txBox="1"/>
          <p:nvPr/>
        </p:nvSpPr>
        <p:spPr>
          <a:xfrm>
            <a:off x="1122685" y="3414484"/>
            <a:ext cx="103691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1313" algn="just"/>
            <a:r>
              <a:rPr lang="en-US" sz="2400" dirty="0">
                <a:solidFill>
                  <a:srgbClr val="242424"/>
                </a:solidFill>
              </a:rPr>
              <a:t>The information and content provided in this report is true, accurate, complete, up-to-date and not misleading.</a:t>
            </a:r>
          </a:p>
          <a:p>
            <a:pPr marL="341313" indent="-341313" algn="just"/>
            <a:r>
              <a:rPr lang="en-US" sz="2400" dirty="0">
                <a:solidFill>
                  <a:srgbClr val="242424"/>
                </a:solidFill>
              </a:rPr>
              <a:t> </a:t>
            </a:r>
          </a:p>
          <a:p>
            <a:pPr algn="just"/>
            <a:r>
              <a:rPr lang="en-US" sz="2400" dirty="0">
                <a:solidFill>
                  <a:srgbClr val="242424"/>
                </a:solidFill>
              </a:rPr>
              <a:t>All Mandatory Admission Criteria of Ideation Programme is met. 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846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rgbClr val="000000"/>
      </a:dk1>
      <a:lt1>
        <a:srgbClr val="FFFFFF"/>
      </a:lt1>
      <a:dk2>
        <a:srgbClr val="FF6F0F"/>
      </a:dk2>
      <a:lt2>
        <a:srgbClr val="F2E0D5"/>
      </a:lt2>
      <a:accent1>
        <a:srgbClr val="056EE1"/>
      </a:accent1>
      <a:accent2>
        <a:srgbClr val="0566D1"/>
      </a:accent2>
      <a:accent3>
        <a:srgbClr val="0452A8"/>
      </a:accent3>
      <a:accent4>
        <a:srgbClr val="034997"/>
      </a:accent4>
      <a:accent5>
        <a:srgbClr val="033C7B"/>
      </a:accent5>
      <a:accent6>
        <a:srgbClr val="02244A"/>
      </a:accent6>
      <a:hlink>
        <a:srgbClr val="E25B00"/>
      </a:hlink>
      <a:folHlink>
        <a:srgbClr val="FFB685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4a32c3-f8bf-4e63-b318-82ab5fbeed33">
      <Terms xmlns="http://schemas.microsoft.com/office/infopath/2007/PartnerControls"/>
    </lcf76f155ced4ddcb4097134ff3c332f>
    <TaxCatchAll xmlns="ae2bc03f-f653-430d-98c7-f3ac9cdbbed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54F10C98BFC74FAB5F5F942FD04A56" ma:contentTypeVersion="19" ma:contentTypeDescription="Create a new document." ma:contentTypeScope="" ma:versionID="9cf700260a0b1f3c8234fe18eb1509ab">
  <xsd:schema xmlns:xsd="http://www.w3.org/2001/XMLSchema" xmlns:xs="http://www.w3.org/2001/XMLSchema" xmlns:p="http://schemas.microsoft.com/office/2006/metadata/properties" xmlns:ns2="e34a32c3-f8bf-4e63-b318-82ab5fbeed33" xmlns:ns3="ae2bc03f-f653-430d-98c7-f3ac9cdbbedc" targetNamespace="http://schemas.microsoft.com/office/2006/metadata/properties" ma:root="true" ma:fieldsID="162efcf1ff31901d803b6ac5ed4fc858" ns2:_="" ns3:_="">
    <xsd:import namespace="e34a32c3-f8bf-4e63-b318-82ab5fbeed33"/>
    <xsd:import namespace="ae2bc03f-f653-430d-98c7-f3ac9cdbbe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4a32c3-f8bf-4e63-b318-82ab5fbeed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eb92707-235b-49d4-9598-b5d873aa68b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bc03f-f653-430d-98c7-f3ac9cdbbed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66381c7-b32a-4402-8f64-aa54313221fd}" ma:internalName="TaxCatchAll" ma:showField="CatchAllData" ma:web="ae2bc03f-f653-430d-98c7-f3ac9cdbbe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B7B0C7-0755-4D59-BBCE-AC869E4D54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4FF0EF-02A4-4944-BC8D-866D461C93CF}">
  <ds:schemaRefs>
    <ds:schemaRef ds:uri="http://schemas.microsoft.com/office/2006/metadata/properties"/>
    <ds:schemaRef ds:uri="http://schemas.microsoft.com/office/infopath/2007/PartnerControls"/>
    <ds:schemaRef ds:uri="e34a32c3-f8bf-4e63-b318-82ab5fbeed33"/>
    <ds:schemaRef ds:uri="ae2bc03f-f653-430d-98c7-f3ac9cdbbedc"/>
  </ds:schemaRefs>
</ds:datastoreItem>
</file>

<file path=customXml/itemProps3.xml><?xml version="1.0" encoding="utf-8"?>
<ds:datastoreItem xmlns:ds="http://schemas.openxmlformats.org/officeDocument/2006/customXml" ds:itemID="{AAEBDF42-C056-4FE0-A51C-91E0B498C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4a32c3-f8bf-4e63-b318-82ab5fbeed33"/>
    <ds:schemaRef ds:uri="ae2bc03f-f653-430d-98c7-f3ac9cdbbe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2936</TotalTime>
  <Words>531</Words>
  <Application>Microsoft Office PowerPoint</Application>
  <PresentationFormat>Widescreen</PresentationFormat>
  <Paragraphs>78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Retrospect</vt:lpstr>
      <vt:lpstr>  iDEAtION  Gold Badge Assessment – Progress updates</vt:lpstr>
      <vt:lpstr>Reminder</vt:lpstr>
      <vt:lpstr>Core Team Members (Brief Description of academic and business background of core team members)</vt:lpstr>
      <vt:lpstr>Project Summary</vt:lpstr>
      <vt:lpstr>Business Development</vt:lpstr>
      <vt:lpstr>Technology Development</vt:lpstr>
      <vt:lpstr>Corporate Development</vt:lpstr>
      <vt:lpstr>Part 2</vt:lpstr>
      <vt:lpstr>Market Validation Report</vt:lpstr>
      <vt:lpstr>Further remarks for overseas members landing HK</vt:lpstr>
      <vt:lpstr>Who are your target customers and Why? </vt:lpstr>
      <vt:lpstr>Feedback from Target Customers </vt:lpstr>
      <vt:lpstr>Data Analysis </vt:lpstr>
      <vt:lpstr>Refine  </vt:lpstr>
      <vt:lpstr>Timeline  </vt:lpstr>
      <vt:lpstr>Resources  </vt:lpstr>
      <vt:lpstr>Success Metrics  </vt:lpstr>
      <vt:lpstr>Declaration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nth Mouth Milestone Report</dc:title>
  <dc:creator>Lowell HM Kong</dc:creator>
  <cp:lastModifiedBy>Nat WY Ip</cp:lastModifiedBy>
  <cp:revision>76</cp:revision>
  <cp:lastPrinted>2020-05-25T02:47:53Z</cp:lastPrinted>
  <dcterms:created xsi:type="dcterms:W3CDTF">2020-01-31T15:29:31Z</dcterms:created>
  <dcterms:modified xsi:type="dcterms:W3CDTF">2026-09-04T03:37:05Z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b40898e-8284-402c-838e-1fd1e257f0ce_Enabled">
    <vt:lpwstr>true</vt:lpwstr>
  </property>
  <property fmtid="{D5CDD505-2E9C-101B-9397-08002B2CF9AE}" pid="3" name="MSIP_Label_cb40898e-8284-402c-838e-1fd1e257f0ce_SetDate">
    <vt:lpwstr>2021-09-15T08:46:26Z</vt:lpwstr>
  </property>
  <property fmtid="{D5CDD505-2E9C-101B-9397-08002B2CF9AE}" pid="4" name="MSIP_Label_cb40898e-8284-402c-838e-1fd1e257f0ce_Method">
    <vt:lpwstr>Standard</vt:lpwstr>
  </property>
  <property fmtid="{D5CDD505-2E9C-101B-9397-08002B2CF9AE}" pid="5" name="MSIP_Label_cb40898e-8284-402c-838e-1fd1e257f0ce_Name">
    <vt:lpwstr>Restricted (No Protection)</vt:lpwstr>
  </property>
  <property fmtid="{D5CDD505-2E9C-101B-9397-08002B2CF9AE}" pid="6" name="MSIP_Label_cb40898e-8284-402c-838e-1fd1e257f0ce_SiteId">
    <vt:lpwstr>b3e19ac2-e192-44c8-90bd-41acbfb3dcdb</vt:lpwstr>
  </property>
  <property fmtid="{D5CDD505-2E9C-101B-9397-08002B2CF9AE}" pid="7" name="MSIP_Label_cb40898e-8284-402c-838e-1fd1e257f0ce_ActionId">
    <vt:lpwstr>9e2e89bc-373f-41bd-b8bd-e401cc926aa6</vt:lpwstr>
  </property>
  <property fmtid="{D5CDD505-2E9C-101B-9397-08002B2CF9AE}" pid="8" name="MSIP_Label_cb40898e-8284-402c-838e-1fd1e257f0ce_ContentBits">
    <vt:lpwstr>0</vt:lpwstr>
  </property>
  <property fmtid="{D5CDD505-2E9C-101B-9397-08002B2CF9AE}" pid="9" name="ContentTypeId">
    <vt:lpwstr>0x010100DB54F10C98BFC74FAB5F5F942FD04A56</vt:lpwstr>
  </property>
  <property fmtid="{D5CDD505-2E9C-101B-9397-08002B2CF9AE}" pid="10" name="MediaServiceImageTags">
    <vt:lpwstr/>
  </property>
</Properties>
</file>